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CYBERION THREATSHIELD</a:t>
            </a:r>
          </a:p>
          <a:p>
            <a:pPr>
              <a:defRPr sz="2200">
                <a:solidFill>
                  <a:srgbClr val="00C4CC"/>
                </a:solidFill>
              </a:defRPr>
            </a:pPr>
            <a:r>
              <a:t>Detection Engineering &amp; Threat Hunting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6B8CA"/>
                </a:solidFill>
              </a:defRPr>
            </a:pPr>
            <a:r>
              <a:t>Evidence-driven Windows EVTX analysis • Sigma detections • ATT&amp;CK coverage • Threat hunts •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Engagement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Defensive analytical project — not a production monitoring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Analyze pre-recorded Windows security telemetry and convert observable behavior into defensible detection content.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Validate Sigma rules against actual telemetry rather than relying on syntax validity alone.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Extend individual detections through correlation, ATT&amp;CK mapping, hypothesis-driven hunting, incident investigation, and response playbooks.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Preserve analytical boundaries: suspicious behavior is not automatically treated as confirmed compromise or malicious attribution.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Project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Completed analytical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55063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15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Atomic Sigma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55063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3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Correlations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2" y="1655063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24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ATT&amp;CK Assessed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79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529584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2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Threat Hunts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383279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529584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2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Incidents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383279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3529584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3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IR Playbooks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Detection Engineering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Evidence first → validation → investigation →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EVTX</a:t>
            </a:r>
            <a:br/>
            <a:r>
              <a:t>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Telemetry</a:t>
            </a:r>
            <a:br/>
            <a: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Sigma</a:t>
            </a:r>
            <a:br/>
            <a: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9744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Behavioral</a:t>
            </a:r>
            <a:br/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ATT&amp;CK</a:t>
            </a:r>
            <a:br/>
            <a:r>
              <a:t>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Threat</a:t>
            </a:r>
            <a:br/>
            <a:r>
              <a:t>Hunting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6568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Incident</a:t>
            </a:r>
            <a:br/>
            <a:r>
              <a:t>Investigation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1864" y="261518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C4CC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52176" y="2331720"/>
            <a:ext cx="1234440" cy="1005840"/>
          </a:xfrm>
          <a:prstGeom prst="roundRect">
            <a:avLst/>
          </a:prstGeom>
          <a:solidFill>
            <a:srgbClr val="132236"/>
          </a:solidFill>
          <a:ln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2532888"/>
            <a:ext cx="10789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EF4FA"/>
                </a:solidFill>
              </a:defRPr>
            </a:pPr>
            <a:r>
              <a:t>Response</a:t>
            </a:r>
            <a:br/>
            <a:r>
              <a:t>Playbooks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EF4FA"/>
                </a:solidFill>
                <a:latin typeface="Aptos"/>
              </a:defRPr>
            </a:pPr>
            <a:r>
              <a:t>Validation separates rule syntax from observed behavior and records false-positive considerations and evidence.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Detection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15 atomic detections + 3 correlation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429768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377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Atomic coverage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Authentication failures • account/group activity • scheduled tasks • services • WinRM • WMI • named pipes • Regsvr32 • audit-log clearing • Mshta • BITS • registry modification • unusual account creation.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123444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CORR-001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Kerberos failures across multiple target accounts from a common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23444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926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CORR-002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Scheduled task creation followed by deletion within a short time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303520" cy="155448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CORR-003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Network logon followed by scheduled-task modification with verified authentication-context linkage.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MITRE ATT&amp;CK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24 techniques/sub-techniques assessed across 10 tactic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9344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15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Direct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09344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1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Partial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09344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8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Documented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EF4FA"/>
                </a:solidFill>
                <a:latin typeface="Aptos"/>
              </a:defRPr>
            </a:pPr>
            <a:r>
              <a:t>Coverage includes Execution, Persistence, Privilege Escalation, Defense Evasion, Credential Access, Discovery, Lateral Movement, Collection, Command and Control, and Exfiltration.</a:t>
            </a:r>
          </a:p>
          <a:p>
            <a:pPr>
              <a:spcAft>
                <a:spcPts val="1200"/>
              </a:spcAft>
              <a:defRPr sz="1600">
                <a:solidFill>
                  <a:srgbClr val="EEF4FA"/>
                </a:solidFill>
                <a:latin typeface="Aptos"/>
              </a:defRPr>
            </a:pPr>
            <a:r>
              <a:t>Coverage gaps are documented engineering opportunities—not evidence that those behaviors occurred.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Threat Hunt TH-001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Kerberos password-spray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9344"/>
            <a:ext cx="28712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9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Qualifying Failures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20040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09344"/>
            <a:ext cx="28712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9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Distinct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20040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609344"/>
            <a:ext cx="28712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172.16.66.1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Common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CORR-001 threshold: ≥5 distinct target users within 10 minutes; observed behavior exceeded the threshold.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Mapped behavior: T1110.003 — Password Spraying.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Conclusion: suspicious activity identified; no confirmed successful authentication and no confirmed compromise.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Threat Hunt TH-002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Network logon followed by scheduled-task modification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37160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63624"/>
            <a:ext cx="30083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172.16.66.142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Source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17320"/>
            <a:ext cx="3337560" cy="137160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563624"/>
            <a:ext cx="30083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a-jbrown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1417320"/>
            <a:ext cx="3337560" cy="137160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563624"/>
            <a:ext cx="300837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0.389267 s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Event Delta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12080" cy="192024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Verified Relationship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Successful network logon followed by task \LMST modification. 4624.TargetLogonId matched 4702.SubjectLogonId.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5212080" cy="192024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3375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Assessment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T1053.005 behavior. Suspicious remote administrative activity requiring investigation; authorization and compromise remain unconfirmed.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Incident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Evidence-based escalation without overstating compromise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20624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INC-001 — Password Spray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Severity: HIGH</a:t>
            </a:r>
            <a:br/>
            <a:r>
              <a:t>Behavioral confidence: HIGH</a:t>
            </a:r>
            <a:br/>
            <a:r>
              <a:t>Observed: 9 failures across 9 accounts from 172.16.66.1</a:t>
            </a:r>
            <a:br/>
            <a:r>
              <a:t>ATT&amp;CK: T1110.003</a:t>
            </a:r>
            <a:br/>
            <a:r>
              <a:t>Compromise: UNCONFIRMED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20624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800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INC-002 — Scheduled Task Modification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Severity: HIGH</a:t>
            </a:r>
            <a:br/>
            <a:r>
              <a:t>Behavioral confidence: HIGH</a:t>
            </a:r>
            <a:br/>
            <a:r>
              <a:t>Correlation: VERIFIED</a:t>
            </a:r>
            <a:br/>
            <a:r>
              <a:t>Observed: remote logon → \LMST modification in ~0.389267 s</a:t>
            </a:r>
            <a:br/>
            <a:r>
              <a:t>Compromise: UNCONFIRMED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Incident Response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Three defensive playbooks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520440" cy="425196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PB-001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Password Spraying Response</a:t>
            </a:r>
            <a:br/>
            <a:br/>
            <a:r>
              <a:t>Identification • severity assessment • false-positive review • containment • eradication • recovery •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425196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PB-002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Remote Scheduled Task Response</a:t>
            </a:r>
            <a:br/>
            <a:br/>
            <a:r>
              <a:t>Investigative pivots, evidence preservation, authorization review, conditional containment and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63040"/>
            <a:ext cx="3520440" cy="425196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0C4CC"/>
                </a:solidFill>
              </a:defRPr>
            </a:pPr>
            <a:r>
              <a:t>PB-003</a:t>
            </a:r>
          </a:p>
          <a:p>
            <a:pPr>
              <a:spcBef>
                <a:spcPts val="700"/>
              </a:spcBef>
              <a:defRPr sz="1250">
                <a:solidFill>
                  <a:srgbClr val="EEF4FA"/>
                </a:solidFill>
              </a:defRPr>
            </a:pPr>
            <a:r>
              <a:t>Security Log Clearing Response</a:t>
            </a:r>
            <a:br/>
            <a:br/>
            <a:r>
              <a:t>Evidence preservation, scope review, containment criteria, recovery, closure and post-incident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IOC &amp; Behavioral Indicator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Context matters more than isolated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300837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HIGH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Artifact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17320"/>
            <a:ext cx="333756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1563624"/>
            <a:ext cx="300837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HIGH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Behavioral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1417320"/>
            <a:ext cx="3337560" cy="1417320"/>
          </a:xfrm>
          <a:prstGeom prst="roundRect">
            <a:avLst/>
          </a:prstGeom>
          <a:solidFill>
            <a:srgbClr val="132236"/>
          </a:solidFill>
          <a:ln>
            <a:solidFill>
              <a:srgbClr val="28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563624"/>
            <a:ext cx="300837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4CC"/>
                </a:solidFill>
                <a:latin typeface="Aptos Display"/>
              </a:defRPr>
            </a:pPr>
            <a:r>
              <a:t>NOT EST.</a:t>
            </a:r>
          </a:p>
          <a:p>
            <a:pPr algn="ctr">
              <a:defRPr sz="1100">
                <a:solidFill>
                  <a:srgbClr val="A6B8CA"/>
                </a:solidFill>
                <a:latin typeface="Aptos"/>
              </a:defRPr>
            </a:pPr>
            <a:r>
              <a:t>Malicious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Private IPs, usernames, hostnames, task names, and dataset-specific artifacts are investigative pivots—not automatically malicious IOCs.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Overall IOC assessment: CONTEXT-DEPENDENT.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ThreatShield separates observed evidence from attribution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Limitations &amp; Coverage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Explicitly bounded analytical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No live production monitoring or live SIEM/SOAR deployment.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No packet, NetFlow, Zeek, or live network-telemetry validation in the baseline.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No claim of complete enterprise ATT&amp;CK coverage.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Future engineering opportunities include credential dumping, system/process discovery, network-service discovery, RDP visibility, archive/staging, web-protocol C2, and exfiltration analytics.</a:t>
            </a:r>
          </a:p>
          <a:p>
            <a:pPr>
              <a:spcAft>
                <a:spcPts val="12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Detection matches are investigation triggers—not automatic proof of malicious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EF4FA"/>
                </a:solidFill>
                <a:latin typeface="Aptos Display"/>
              </a:defRPr>
            </a:pPr>
            <a:r>
              <a:t>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6B8CA"/>
                </a:solidFill>
                <a:latin typeface="Aptos"/>
              </a:defRPr>
            </a:pPr>
            <a:r>
              <a:t>A reproducible, evidence-driven defensive analysis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Built and behaviorally validated a 15-rule atomic Sigma baseline plus 3 correlations.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Assessed 24 ATT&amp;CK techniques/sub-techniques and documented direct, partial, and gap coverage.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Completed 2 threat hunts and 2 structured incident investigations with defensible evidence boundaries.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Operationalized findings through 3 incident-response playbooks and IOC/behavioral-indicator research.</a:t>
            </a:r>
          </a:p>
          <a:p>
            <a:pPr>
              <a:spcAft>
                <a:spcPts val="1200"/>
              </a:spcAft>
              <a:defRPr sz="1800">
                <a:solidFill>
                  <a:srgbClr val="EEF4FA"/>
                </a:solidFill>
                <a:latin typeface="Aptos"/>
              </a:defRPr>
            </a:pPr>
            <a:r>
              <a:t>Produced methodology, executive assessment, final technical report, and repository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C4CC"/>
                </a:solidFill>
              </a:defRPr>
            </a:pPr>
            <a:r>
              <a:t>Evidence first. Detection second. Attribution only when supported.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00C4CC"/>
                </a:solidFill>
              </a:defRPr>
            </a:pPr>
            <a:r>
              <a:t>Cyberion ThreatShield</a:t>
            </a:r>
          </a:p>
          <a:p>
            <a:pPr algn="ctr">
              <a:defRPr sz="1500">
                <a:solidFill>
                  <a:srgbClr val="A6B8CA"/>
                </a:solidFill>
              </a:defRPr>
            </a:pPr>
            <a:r>
              <a:t>Detection Engineering • Threat Hunting •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8C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